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8CDD6"/>
                </a:solidFill>
                <a:latin typeface="Arial"/>
              </a:defRPr>
            </a:pPr>
            <a:r>
              <a:rPr sz="900" b="0" i="0" u="none" strike="noStrike">
                <a:solidFill>
                  <a:srgbClr val="C8CDD6"/>
                </a:solidFill>
                <a:latin typeface="Arial"/>
              </a:rPr>
              <a:t>Audio Segment Breakdown (€M, 2024)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(€M)</c:v>
                </c:pt>
              </c:strCache>
            </c:strRef>
          </c:tx>
          <c:spPr>
            <a:solidFill>
              <a:srgbClr val="E823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23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1F2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192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141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E101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Earphones
&amp; IEMs</c:v>
                  </c:pt>
                  <c:pt idx="1">
                    <c:v>Over-ear
Headphones</c:v>
                  </c:pt>
                  <c:pt idx="2">
                    <c:v>Wireless
Speakers</c:v>
                  </c:pt>
                  <c:pt idx="3">
                    <c:v>Neckbands
&amp; Sports</c:v>
                  </c:pt>
                  <c:pt idx="4">
                    <c:v>Smartwatch
Audio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165</c:v>
                </c:pt>
                <c:pt idx="1">
                  <c:v>120</c:v>
                </c:pt>
                <c:pt idx="2">
                  <c:v>105</c:v>
                </c:pt>
                <c:pt idx="3">
                  <c:v>55</c:v>
                </c:pt>
                <c:pt idx="4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CD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D6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CDD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34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B1D3A"/>
                </a:solidFill>
                <a:latin typeface="Arial"/>
              </a:defRPr>
            </a:pPr>
            <a:r>
              <a:rPr sz="900" b="0" i="0" u="none" strike="noStrike">
                <a:solidFill>
                  <a:srgbClr val="0B1D3A"/>
                </a:solidFill>
                <a:latin typeface="Arial"/>
              </a:rPr>
              <a:t>Target Segment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232A"/>
              </a:solidFill>
              <a:effectLst/>
            </c:spPr>
          </c:dPt>
          <c:dPt>
            <c:idx val="1"/>
            <c:bubble3D val="0"/>
            <c:spPr>
              <a:solidFill>
                <a:srgbClr val="F5621E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bubble3D val="0"/>
            <c:spPr>
              <a:solidFill>
                <a:srgbClr val="D0D5E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Millennials/GenZ</c:v>
                </c:pt>
                <c:pt idx="1">
                  <c:v>Students</c:v>
                </c:pt>
                <c:pt idx="2">
                  <c:v>Professionals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52</c:v>
                </c:pt>
                <c:pt idx="1">
                  <c:v>24</c:v>
                </c:pt>
                <c:pt idx="2">
                  <c:v>18</c:v>
                </c:pt>
                <c:pt idx="3">
                  <c:v>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0B1D3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EEF1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A3060">
              <a:alpha val="60000"/>
            </a:srgbClr>
          </a:solidFill>
          <a:ln w="12700">
            <a:solidFill>
              <a:srgbClr val="1A306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560320"/>
            <a:ext cx="2011680" cy="2011680"/>
          </a:xfrm>
          <a:prstGeom prst="ellipse">
            <a:avLst/>
          </a:prstGeom>
          <a:solidFill>
            <a:srgbClr val="E8232A">
              <a:alpha val="30000"/>
            </a:srgbClr>
          </a:solidFill>
          <a:ln w="12700">
            <a:solidFill>
              <a:srgbClr val="E8232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57200"/>
            <a:ext cx="1097280" cy="384048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572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457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DD6"/>
                </a:solidFill>
              </a:rPr>
              <a:t>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457200"/>
            <a:ext cx="640080" cy="128016"/>
          </a:xfrm>
          <a:prstGeom prst="rect">
            <a:avLst/>
          </a:prstGeom>
          <a:solidFill>
            <a:srgbClr val="AE1C28"/>
          </a:solidFill>
          <a:ln w="12700">
            <a:solidFill>
              <a:srgbClr val="AE1C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585216"/>
            <a:ext cx="640080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713232"/>
            <a:ext cx="640080" cy="128016"/>
          </a:xfrm>
          <a:prstGeom prst="rect">
            <a:avLst/>
          </a:prstGeom>
          <a:solidFill>
            <a:srgbClr val="21468B"/>
          </a:solidFill>
          <a:ln w="12700">
            <a:solidFill>
              <a:srgbClr val="2146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457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CDD6"/>
                </a:solidFill>
              </a:rPr>
              <a:t>Netherlands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078992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Cracking the Dutch Market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94360" y="20116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DD6"/>
                </a:solidFill>
              </a:rPr>
              <a:t>A Go-to-Market Entry Strategy for boAt Lifestyle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8CDD6"/>
                </a:solidFill>
              </a:rPr>
              <a:t>into the Netherlands Consumer Electronics Sector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2907792"/>
            <a:ext cx="4572000" cy="36576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63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E8232A"/>
                </a:solidFill>
              </a:rPr>
              <a:t>ASSIGNMENT TYPE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3264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Mini Consulting Project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063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E8232A"/>
                </a:solidFill>
              </a:rPr>
              <a:t>ENTRY MODE FOCUS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474720" y="3264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E-Commerce First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3063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E8232A"/>
                </a:solidFill>
              </a:rPr>
              <a:t>TARGET YEAR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355080" y="3264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2025–2026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699"/>
                </a:solidFill>
              </a:rPr>
              <a:t>Prepared as part of International Business / Marketing Portfolio  •  Fontys / HAN / NHL Stenden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AGENDA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8CDD6"/>
                </a:solidFill>
              </a:rPr>
              <a:t>A structured consulting framework applied to boAt's Netherlands entry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23360" cy="530352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664208"/>
            <a:ext cx="27432" cy="347472"/>
          </a:xfrm>
          <a:prstGeom prst="rect">
            <a:avLst/>
          </a:prstGeom>
          <a:solidFill>
            <a:srgbClr val="2A3D65"/>
          </a:solidFill>
          <a:ln w="12700">
            <a:solidFill>
              <a:srgbClr val="2A3D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609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Company Snapshot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1847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Who is boAt? Why now?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530352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945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2286000"/>
            <a:ext cx="27432" cy="347472"/>
          </a:xfrm>
          <a:prstGeom prst="rect">
            <a:avLst/>
          </a:prstGeom>
          <a:solidFill>
            <a:srgbClr val="2A3D65"/>
          </a:solidFill>
          <a:ln w="12700">
            <a:solidFill>
              <a:srgbClr val="2A3D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2231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Opportunity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" y="2468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Dutch consumer electronics size &amp; trends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816352"/>
            <a:ext cx="4023360" cy="530352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1635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2907792"/>
            <a:ext cx="27432" cy="347472"/>
          </a:xfrm>
          <a:prstGeom prst="rect">
            <a:avLst/>
          </a:prstGeom>
          <a:solidFill>
            <a:srgbClr val="2A3D65"/>
          </a:solidFill>
          <a:ln w="12700">
            <a:solidFill>
              <a:srgbClr val="2A3D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2852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 Segment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" y="3090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Who we sell to in the Netherlands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4023360" cy="530352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3814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3529584"/>
            <a:ext cx="27432" cy="347472"/>
          </a:xfrm>
          <a:prstGeom prst="rect">
            <a:avLst/>
          </a:prstGeom>
          <a:solidFill>
            <a:srgbClr val="2A3D65"/>
          </a:solidFill>
          <a:ln w="12700">
            <a:solidFill>
              <a:srgbClr val="2A3D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3474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Competitive Landscape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5568" y="37124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JBL vs Jabra — the two threats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059936"/>
            <a:ext cx="4023360" cy="530352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5993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5840" y="4151376"/>
            <a:ext cx="27432" cy="347472"/>
          </a:xfrm>
          <a:prstGeom prst="rect">
            <a:avLst/>
          </a:prstGeom>
          <a:solidFill>
            <a:srgbClr val="2A3D65"/>
          </a:solidFill>
          <a:ln w="12700">
            <a:solidFill>
              <a:srgbClr val="2A3D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4096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Pricing Strategy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" y="4334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Value positioning &amp; price ladder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00600" y="1572768"/>
            <a:ext cx="4023360" cy="530352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57276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49240" y="1664208"/>
            <a:ext cx="27432" cy="347472"/>
          </a:xfrm>
          <a:prstGeom prst="rect">
            <a:avLst/>
          </a:prstGeom>
          <a:solidFill>
            <a:srgbClr val="2A3D65"/>
          </a:solidFill>
          <a:ln w="12700">
            <a:solidFill>
              <a:srgbClr val="2A3D6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58968" y="1609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Entry Mode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58968" y="1847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E-commerce first — why &amp; how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00600" y="2194560"/>
            <a:ext cx="4023360" cy="530352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1945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349240" y="2286000"/>
            <a:ext cx="27432" cy="347472"/>
          </a:xfrm>
          <a:prstGeom prst="rect">
            <a:avLst/>
          </a:prstGeom>
          <a:solidFill>
            <a:srgbClr val="2A3D65"/>
          </a:solidFill>
          <a:ln w="12700">
            <a:solidFill>
              <a:srgbClr val="2A3D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58968" y="2231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Marketing Approach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58968" y="2468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Channels &amp; messaging for Dutch consumers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00600" y="2816352"/>
            <a:ext cx="4023360" cy="530352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81635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08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349240" y="2907792"/>
            <a:ext cx="27432" cy="347472"/>
          </a:xfrm>
          <a:prstGeom prst="rect">
            <a:avLst/>
          </a:prstGeom>
          <a:solidFill>
            <a:srgbClr val="2A3D65"/>
          </a:solidFill>
          <a:ln w="12700">
            <a:solidFill>
              <a:srgbClr val="2A3D6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58968" y="2852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&amp; Mitigation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58968" y="3090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Key challenges &amp; responses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00600" y="3438144"/>
            <a:ext cx="4023360" cy="530352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43814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09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349240" y="3529584"/>
            <a:ext cx="27432" cy="347472"/>
          </a:xfrm>
          <a:prstGeom prst="rect">
            <a:avLst/>
          </a:prstGeom>
          <a:solidFill>
            <a:srgbClr val="2A3D65"/>
          </a:solidFill>
          <a:ln w="12700">
            <a:solidFill>
              <a:srgbClr val="2A3D6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58968" y="3474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Financial Snapshot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58968" y="37124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Year-1 targets &amp; assumptions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00600" y="4059936"/>
            <a:ext cx="4023360" cy="530352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05993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10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349240" y="4151376"/>
            <a:ext cx="27432" cy="347472"/>
          </a:xfrm>
          <a:prstGeom prst="rect">
            <a:avLst/>
          </a:prstGeom>
          <a:solidFill>
            <a:srgbClr val="2A3D65"/>
          </a:solidFill>
          <a:ln w="12700">
            <a:solidFill>
              <a:srgbClr val="2A3D6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58968" y="4096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Recommendation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58968" y="4334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Strategic verdict &amp; next steps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01 · COMPANY SNAPSHOT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Is boAt?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4560"/>
                </a:solidFill>
              </a:rPr>
              <a:t>Founded in 2016 in New Delhi, boAt Lifestyle is India's #1 consumer audio brand. Known for delivering premium-quality earphones, headphones, speakers, and smartwatches at accessible prices, boAt has captured 33% of India's wearable audio market.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2084832"/>
            <a:ext cx="5120640" cy="402336"/>
          </a:xfrm>
          <a:prstGeom prst="rect">
            <a:avLst/>
          </a:prstGeom>
          <a:solidFill>
            <a:srgbClr val="EEF1F6"/>
          </a:solidFill>
          <a:ln w="6350">
            <a:solidFill>
              <a:srgbClr val="D0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848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084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8699"/>
                </a:solidFill>
              </a:rPr>
              <a:t>Founded: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20848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D3A"/>
                </a:solidFill>
              </a:rPr>
              <a:t>2016 · New Delhi, India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120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5603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8699"/>
                </a:solidFill>
              </a:rPr>
              <a:t>Products: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25603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D3A"/>
                </a:solidFill>
              </a:rPr>
              <a:t>Earphones, Headphones, Speakers, Smartwatches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35808"/>
            <a:ext cx="5120640" cy="402336"/>
          </a:xfrm>
          <a:prstGeom prst="rect">
            <a:avLst/>
          </a:prstGeom>
          <a:solidFill>
            <a:srgbClr val="EEF1F6"/>
          </a:solidFill>
          <a:ln w="6350">
            <a:solidFill>
              <a:srgbClr val="D0D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3580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03580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8699"/>
                </a:solidFill>
              </a:rPr>
              <a:t>User Base: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30358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D3A"/>
                </a:solidFill>
              </a:rPr>
              <a:t>100M+ customers (2024)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5120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1129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5112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8699"/>
                </a:solidFill>
              </a:rPr>
              <a:t>Revenue: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0" y="351129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D3A"/>
                </a:solidFill>
              </a:rPr>
              <a:t>₹3,000 Cr+ (FY2023)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986784"/>
            <a:ext cx="5120640" cy="402336"/>
          </a:xfrm>
          <a:prstGeom prst="rect">
            <a:avLst/>
          </a:prstGeom>
          <a:solidFill>
            <a:srgbClr val="EEF1F6"/>
          </a:solidFill>
          <a:ln w="6350">
            <a:solidFill>
              <a:srgbClr val="D0D5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8678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9867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8699"/>
                </a:solidFill>
              </a:rPr>
              <a:t>Market Position: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0" y="39867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D3A"/>
                </a:solidFill>
              </a:rPr>
              <a:t>#1 Audio Brand in India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0" y="1005840"/>
            <a:ext cx="2834640" cy="36576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0" y="1005840"/>
            <a:ext cx="28346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0789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232A"/>
                </a:solidFill>
              </a:rPr>
              <a:t>WHY NOW?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35040" y="1481328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8CDD6"/>
                </a:solidFill>
              </a:rPr>
              <a:t>Post-COVID audio boom: €2.1B Dutch consumer electronics market</a:t>
            </a:r>
            <a:endParaRPr lang="en-US" sz="9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8CDD6"/>
                </a:solidFill>
              </a:rPr>
              <a:t>Dutch shoppers embrace Asian quality brands (Xiaomi, realme success)</a:t>
            </a:r>
            <a:endParaRPr lang="en-US" sz="9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8CDD6"/>
                </a:solidFill>
              </a:rPr>
              <a:t>EU single market = easy logistics from existing EU hubs</a:t>
            </a:r>
            <a:endParaRPr lang="en-US" sz="9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8CDD6"/>
                </a:solidFill>
              </a:rPr>
              <a:t>boAt's D2C (direct-to-consumer) model proven at scale</a:t>
            </a:r>
            <a:endParaRPr lang="en-US" sz="9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8CDD6"/>
                </a:solidFill>
              </a:rPr>
              <a:t>Gap in €30–80 premium-feel, budget-priced audio segment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02 · MARKET OPPORTUNITY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Dutch Market at a Glance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8CDD6"/>
                </a:solidFill>
              </a:rPr>
              <a:t>Netherlands Consumer Electronics &amp; Audio — Market Size &amp; Growth Outlook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965960" cy="1463040"/>
          </a:xfrm>
          <a:prstGeom prst="rect">
            <a:avLst/>
          </a:prstGeom>
          <a:solidFill>
            <a:srgbClr val="112347"/>
          </a:solidFill>
          <a:ln w="12700">
            <a:solidFill>
              <a:srgbClr val="112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36192"/>
            <a:ext cx="178308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232A"/>
                </a:solidFill>
              </a:rPr>
              <a:t>€2.1B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2194560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Consumer Electronics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Market Size (2024)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2604211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Netherlands total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87168" y="1463040"/>
            <a:ext cx="1965960" cy="1463040"/>
          </a:xfrm>
          <a:prstGeom prst="rect">
            <a:avLst/>
          </a:prstGeom>
          <a:solidFill>
            <a:srgbClr val="112347"/>
          </a:solidFill>
          <a:ln w="12700">
            <a:solidFill>
              <a:srgbClr val="112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78608" y="1536192"/>
            <a:ext cx="178308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232A"/>
                </a:solidFill>
              </a:rPr>
              <a:t>€480M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2194560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Audio Devices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Sub-Market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2604211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Headphones + earphones + speakers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08576" y="1463040"/>
            <a:ext cx="1965960" cy="1463040"/>
          </a:xfrm>
          <a:prstGeom prst="rect">
            <a:avLst/>
          </a:prstGeom>
          <a:solidFill>
            <a:srgbClr val="112347"/>
          </a:solidFill>
          <a:ln w="12700">
            <a:solidFill>
              <a:srgbClr val="112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0016" y="1536192"/>
            <a:ext cx="178308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232A"/>
                </a:solidFill>
              </a:rPr>
              <a:t>7.2%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81728" y="2194560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CAGR Expected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2024–2028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1728" y="2604211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Audio devices segment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729984" y="1463040"/>
            <a:ext cx="1965960" cy="1463040"/>
          </a:xfrm>
          <a:prstGeom prst="rect">
            <a:avLst/>
          </a:prstGeom>
          <a:solidFill>
            <a:srgbClr val="112347"/>
          </a:solidFill>
          <a:ln w="12700">
            <a:solidFill>
              <a:srgbClr val="112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21424" y="1536192"/>
            <a:ext cx="178308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232A"/>
                </a:solidFill>
              </a:rPr>
              <a:t>18.4M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03136" y="2194560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Dutch Population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Digital Adoption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03136" y="2604211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94% internet penetration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65760" y="3063240"/>
          <a:ext cx="51206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5760720" y="3017520"/>
            <a:ext cx="3017520" cy="1874520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60720" y="3017520"/>
            <a:ext cx="301752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52160" y="3090672"/>
            <a:ext cx="54864" cy="32918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0176" y="3090672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Trends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870448" y="3474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🎧  True Wireless Stereo (TWS) fastest growing — +22% YoY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870448" y="37490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📱  App-integrated audio gaining traction (EQ, noise cancel)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870448" y="4023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🌱  Dutch consumers value sustainability &amp; recyclable packaging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870448" y="4297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🛒  68% of electronics purchased online (Post-COVID habit)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870448" y="4572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💶  Sweet spot: €40–€90 for daily-use wireless earphones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03 · TARGET SEGMENT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Are We Selling To?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206240" cy="36118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E8232A"/>
                </a:solidFill>
              </a:rPr>
              <a:t>PRIMARY TARGET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Tech-Savvy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Millennials &amp; Gen Z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Age Range: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11680" y="21762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18–35 years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5237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Income: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11680" y="25237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€18,000–€45,000 annually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8712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Location: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11680" y="28712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Amsterdam, Rotterdam, Utrecht, Eindhoven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2186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Behaviour: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11680" y="3218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streaming (Spotify), gaming, remote work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5661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Motivation: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11680" y="35661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Style + performance at accessible price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9136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Channel Pref: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11680" y="391363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bol.com, Amazon.nl, Instagram shopping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2611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Size Est.: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11680" y="42611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~3.8M addressable consumers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115568"/>
            <a:ext cx="393192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115568"/>
            <a:ext cx="3931920" cy="54864"/>
          </a:xfrm>
          <a:prstGeom prst="rect">
            <a:avLst/>
          </a:prstGeom>
          <a:solidFill>
            <a:srgbClr val="F5621E"/>
          </a:solidFill>
          <a:ln w="12700">
            <a:solidFill>
              <a:srgbClr val="F562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SECONDARY: Budget-Conscious Students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1554480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A4560"/>
                </a:solidFill>
              </a:rPr>
              <a:t>Age 16–24, enrolled in MBO/HBO/University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A4560"/>
                </a:solidFill>
              </a:rPr>
              <a:t>Tight budget: €25–€60 per audio device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A4560"/>
                </a:solidFill>
              </a:rPr>
              <a:t>Motivated by: social validation, music, gaming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A4560"/>
                </a:solidFill>
              </a:rPr>
              <a:t>Platform: TikTok, Instagram, bol.com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2990088"/>
            <a:ext cx="393192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990088"/>
            <a:ext cx="3931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081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SECONDARY: Remote Workers &amp; Professionals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3480" y="3429000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A4560"/>
                </a:solidFill>
              </a:rPr>
              <a:t>Age 28–45, hybrid work models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A4560"/>
                </a:solidFill>
              </a:rPr>
              <a:t>Need: noise-cancelling, clear mic, long battery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A4560"/>
                </a:solidFill>
              </a:rPr>
              <a:t>Spend €60–€120 on work audio tools</a:t>
            </a:r>
            <a:endParaRPr lang="en-US" sz="8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A4560"/>
                </a:solidFill>
              </a:rPr>
              <a:t>Discover via LinkedIn &amp; productivity blogs</a:t>
            </a:r>
            <a:endParaRPr lang="en-US" sz="8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846320" y="3035808"/>
          <a:ext cx="3931920" cy="17922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 · COMPETITIVE LANDSCAPE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Competition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8CDD6"/>
                </a:solidFill>
              </a:rPr>
              <a:t>Two key rivals boAt must outmanoeuvre in the Netherlands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4114800" cy="3520440"/>
          </a:xfrm>
          <a:prstGeom prst="rect">
            <a:avLst/>
          </a:prstGeom>
          <a:solidFill>
            <a:srgbClr val="1123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JBL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20440" y="1508760"/>
            <a:ext cx="80467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50876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28%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mkt share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4632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8CDD6"/>
                </a:solidFill>
              </a:rPr>
              <a:t>Harman-owned mass market audio giant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" y="2176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Avg Price: €60–€180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2505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✅  STRENGTHS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6072" y="2734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· Top-of-mind brand recall in Netherlands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6072" y="2990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· Wide bol.com &amp; MediaMarkt distribution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76072" y="3246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· Strong party/outdoor speaker line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" y="3593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⚠️  WEAKNESSES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76072" y="38496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· Perceived as 'safe' — no wow factor for GenZ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76072" y="4105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· Limited personalisation / app features at €60 tier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1389888"/>
            <a:ext cx="4114800" cy="3520440"/>
          </a:xfrm>
          <a:prstGeom prst="rect">
            <a:avLst/>
          </a:prstGeom>
          <a:solidFill>
            <a:srgbClr val="11234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389888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Jabra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909560" y="1508760"/>
            <a:ext cx="8046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150876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19%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mkt share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73752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8CDD6"/>
                </a:solidFill>
              </a:rPr>
              <a:t>Danish pro-audio brand by GN Audio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73752" y="2176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Avg Price: €90–€300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73752" y="2505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✅  STRENGTHS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65192" y="2734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· Dominant in B2B / professional headsets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65192" y="2990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· Superior ANC &amp; call clarity — loved by WFH users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65192" y="3246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· Strong sustainability narrative (GreenVoice)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73752" y="3593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⚠️  WEAKNESSES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65192" y="38496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· Premium price alienates students &amp; young adults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65192" y="4105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· Perceived as 'office tool' not lifestyle brand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05 · PRICING STRATEGY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 — The Value Wedge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8699"/>
                </a:solidFill>
              </a:rPr>
              <a:t>boAt positions as 'Premium feel at disruptive price' — the gap between JBL's cheapest and Jabra's cheapest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463040" cy="658368"/>
          </a:xfrm>
          <a:prstGeom prst="rect">
            <a:avLst/>
          </a:prstGeom>
          <a:solidFill>
            <a:srgbClr val="F5621E"/>
          </a:solidFill>
          <a:ln w="12700">
            <a:solidFill>
              <a:srgbClr val="F562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0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€25–€40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CCCC"/>
                </a:solidFill>
              </a:rPr>
              <a:t>Entry Tier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11680" y="13624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D3A"/>
                </a:solidFill>
              </a:rPr>
              <a:t>boAt Airdopes 121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65506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699"/>
                </a:solidFill>
              </a:rPr>
              <a:t>Positioning: Student daily driver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651760" cy="658368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9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€45–€75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CCCC"/>
                </a:solidFill>
              </a:rPr>
              <a:t>Mid Tier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0" y="22311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D3A"/>
                </a:solidFill>
              </a:rPr>
              <a:t>boAt Rockerz 450 / Airdopes 500 TWS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523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699"/>
                </a:solidFill>
              </a:rPr>
              <a:t>Positioning: Primary target — lifestyle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3840480" cy="658368"/>
          </a:xfrm>
          <a:prstGeom prst="rect">
            <a:avLst/>
          </a:prstGeom>
          <a:solidFill>
            <a:srgbClr val="8B1419"/>
          </a:solidFill>
          <a:ln w="12700">
            <a:solidFill>
              <a:srgbClr val="8B14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18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€80–€120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CCCC"/>
                </a:solidFill>
              </a:rPr>
              <a:t>Premium Tier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89120" y="3099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D3A"/>
                </a:solidFill>
              </a:rPr>
              <a:t>boAt Nirvana 525 ANC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3392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699"/>
                </a:solidFill>
              </a:rPr>
              <a:t>Positioning: Professional / WFH segment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841248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77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8232A"/>
                </a:solidFill>
              </a:rPr>
              <a:t>COMPETITIVE PRICE BENCHMARK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JBL Tune 230NC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44256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€79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94560" y="4206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Jabra Evolve2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94560" y="44256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€149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4206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Sony WF-1000XM5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0" y="44256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€249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4206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Apple AirPods 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0" y="44256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€199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4206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232A"/>
                </a:solidFill>
              </a:rPr>
              <a:t>boAt Airdopes 500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32320" y="44256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232A"/>
                </a:solidFill>
              </a:rPr>
              <a:t>€59 🎯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06 · ENTRY MODE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E-Commerce First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8CDD6"/>
                </a:solidFill>
              </a:rPr>
              <a:t>Low-risk, high-reach market entry — then scale to physical retail in Year 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743200" cy="3474720"/>
          </a:xfrm>
          <a:prstGeom prst="rect">
            <a:avLst/>
          </a:prstGeom>
          <a:solidFill>
            <a:srgbClr val="112347"/>
          </a:solidFill>
          <a:ln w="12700">
            <a:solidFill>
              <a:srgbClr val="E82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274320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E8232A"/>
                </a:solidFill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Months 1–6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Digital Launch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201168" cy="201168"/>
          </a:xfrm>
          <a:prstGeom prst="ellipse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48716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List on bol.com &amp; Amazon.nl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201168" cy="201168"/>
          </a:xfrm>
          <a:prstGeom prst="ellipse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30175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Launch boAt.nl (localised Dutch site)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201168" cy="201168"/>
          </a:xfrm>
          <a:prstGeom prst="ellipse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354787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Run Meta + TikTok paid campaigns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4096512"/>
            <a:ext cx="201168" cy="201168"/>
          </a:xfrm>
          <a:prstGeom prst="ellipse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407822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Micro-influencer seeding (50+ NL creators)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1389888"/>
            <a:ext cx="2743200" cy="3474720"/>
          </a:xfrm>
          <a:prstGeom prst="rect">
            <a:avLst/>
          </a:prstGeom>
          <a:solidFill>
            <a:srgbClr val="112347"/>
          </a:solidFill>
          <a:ln w="12700">
            <a:solidFill>
              <a:srgbClr val="F562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389888"/>
            <a:ext cx="2743200" cy="54864"/>
          </a:xfrm>
          <a:prstGeom prst="rect">
            <a:avLst/>
          </a:prstGeom>
          <a:solidFill>
            <a:srgbClr val="F5621E"/>
          </a:solidFill>
          <a:ln w="12700">
            <a:solidFill>
              <a:srgbClr val="F562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481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621E"/>
                </a:solidFill>
              </a:rPr>
              <a:t>Phase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Months 7–12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3756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Brand Building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37560" y="2505456"/>
            <a:ext cx="201168" cy="201168"/>
          </a:xfrm>
          <a:prstGeom prst="ellipse">
            <a:avLst/>
          </a:prstGeom>
          <a:solidFill>
            <a:srgbClr val="F5621E"/>
          </a:solidFill>
          <a:ln w="12700">
            <a:solidFill>
              <a:srgbClr val="F562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248716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Partner with Dutch student unions &amp; events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37560" y="3035808"/>
            <a:ext cx="201168" cy="201168"/>
          </a:xfrm>
          <a:prstGeom prst="ellipse">
            <a:avLst/>
          </a:prstGeom>
          <a:solidFill>
            <a:srgbClr val="F5621E"/>
          </a:solidFill>
          <a:ln w="12700">
            <a:solidFill>
              <a:srgbClr val="F562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02736" y="30175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Activate Spotify + YouTube ads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37560" y="3566160"/>
            <a:ext cx="201168" cy="201168"/>
          </a:xfrm>
          <a:prstGeom prst="ellipse">
            <a:avLst/>
          </a:prstGeom>
          <a:solidFill>
            <a:srgbClr val="F5621E"/>
          </a:solidFill>
          <a:ln w="12700">
            <a:solidFill>
              <a:srgbClr val="F562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54787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Launch loyalty program via app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37560" y="4096512"/>
            <a:ext cx="201168" cy="201168"/>
          </a:xfrm>
          <a:prstGeom prst="ellipse">
            <a:avLst/>
          </a:prstGeom>
          <a:solidFill>
            <a:srgbClr val="F5621E"/>
          </a:solidFill>
          <a:ln w="12700">
            <a:solidFill>
              <a:srgbClr val="F562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407822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Monitor NPS &amp; reviews — iterate product mix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80760" y="1389888"/>
            <a:ext cx="2743200" cy="3474720"/>
          </a:xfrm>
          <a:prstGeom prst="rect">
            <a:avLst/>
          </a:prstGeom>
          <a:solidFill>
            <a:srgbClr val="11234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389888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481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</a:rPr>
              <a:t>Phase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Year 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1792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Retail Expansion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17920" y="250545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83096" y="248716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Pilot shelf space at MediaMarkt NL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30358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83096" y="30175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Explore Coolblue partnership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17920" y="35661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83096" y="354787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Pop-up brand experience in Amsterdam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17920" y="40965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83096" y="407822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Evaluate distributor vs direct model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4773168"/>
            <a:ext cx="8503920" cy="219456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731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WHY E-COMMERCE FIRST?  →  68% Dutch electronics purchases are online · Zero store rent cost · Real-time performance data · Easy to test &amp; retarget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07 · MARKETING APPROACH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Channels &amp; Messaging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207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TikTok / Reels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1207008"/>
            <a:ext cx="777240" cy="274320"/>
          </a:xfrm>
          <a:prstGeom prst="rect">
            <a:avLst/>
          </a:prstGeom>
          <a:solidFill>
            <a:srgbClr val="EEF1F6"/>
          </a:solidFill>
          <a:ln w="6350">
            <a:solidFill>
              <a:srgbClr val="D0D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2070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232A"/>
                </a:solidFill>
              </a:rPr>
              <a:t>Budget: 30%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24128" y="149961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4560"/>
                </a:solidFill>
              </a:rPr>
              <a:t>Viral unboxing, sound demos, #boAtNL challenge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24128" y="193852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699"/>
                </a:solidFill>
              </a:rPr>
              <a:t>Target: 18–28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77440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50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24128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Instagram Ads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2468880"/>
            <a:ext cx="777240" cy="274320"/>
          </a:xfrm>
          <a:prstGeom prst="rect">
            <a:avLst/>
          </a:prstGeom>
          <a:solidFill>
            <a:srgbClr val="EEF1F6"/>
          </a:solidFill>
          <a:ln w="6350">
            <a:solidFill>
              <a:srgbClr val="D0D5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468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232A"/>
                </a:solidFill>
              </a:rPr>
              <a:t>Budget: 25%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24128" y="27614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4560"/>
                </a:solidFill>
              </a:rPr>
              <a:t>Lifestyle imagery, influencer collabs, Stories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4128" y="320040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699"/>
                </a:solidFill>
              </a:rPr>
              <a:t>Target: 20–35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39312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124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24128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bol.com SEA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3730752"/>
            <a:ext cx="777240" cy="274320"/>
          </a:xfrm>
          <a:prstGeom prst="rect">
            <a:avLst/>
          </a:prstGeom>
          <a:solidFill>
            <a:srgbClr val="EEF1F6"/>
          </a:solidFill>
          <a:ln w="6350">
            <a:solidFill>
              <a:srgbClr val="D0D5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730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232A"/>
                </a:solidFill>
              </a:rPr>
              <a:t>Budget: 20%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24128" y="40233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4560"/>
                </a:solidFill>
              </a:rPr>
              <a:t>Product listing ads, review generation drive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4128" y="4462272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699"/>
                </a:solidFill>
              </a:rPr>
              <a:t>Target: All segments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00600" y="1115568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115568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188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58968" y="1207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Spotify Audio Ads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92440" y="1207008"/>
            <a:ext cx="777240" cy="274320"/>
          </a:xfrm>
          <a:prstGeom prst="rect">
            <a:avLst/>
          </a:prstGeom>
          <a:solidFill>
            <a:srgbClr val="EEF1F6"/>
          </a:solidFill>
          <a:ln w="6350">
            <a:solidFill>
              <a:srgbClr val="D0D5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2440" y="12070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232A"/>
                </a:solidFill>
              </a:rPr>
              <a:t>Budget: 12%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458968" y="149961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4560"/>
                </a:solidFill>
              </a:rPr>
              <a:t>In-stream audio during music listening sessions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58968" y="193852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699"/>
                </a:solidFill>
              </a:rPr>
              <a:t>Target: 18–34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00600" y="2377440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2377440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450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458968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Gaming / Twitch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92440" y="2468880"/>
            <a:ext cx="777240" cy="274320"/>
          </a:xfrm>
          <a:prstGeom prst="rect">
            <a:avLst/>
          </a:prstGeom>
          <a:solidFill>
            <a:srgbClr val="EEF1F6"/>
          </a:solidFill>
          <a:ln w="6350">
            <a:solidFill>
              <a:srgbClr val="D0D5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92440" y="2468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232A"/>
                </a:solidFill>
              </a:rPr>
              <a:t>Budget: 8%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458968" y="27614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4560"/>
                </a:solidFill>
              </a:rPr>
              <a:t>Sponsorships with NL streamers &amp; esports teams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58968" y="320040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699"/>
                </a:solidFill>
              </a:rPr>
              <a:t>Target: 16–28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3639312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3639312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7124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458968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Email / CRM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092440" y="3730752"/>
            <a:ext cx="777240" cy="274320"/>
          </a:xfrm>
          <a:prstGeom prst="rect">
            <a:avLst/>
          </a:prstGeom>
          <a:solidFill>
            <a:srgbClr val="EEF1F6"/>
          </a:solidFill>
          <a:ln w="6350">
            <a:solidFill>
              <a:srgbClr val="D0D5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92440" y="3730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232A"/>
                </a:solidFill>
              </a:rPr>
              <a:t>Budget: 5%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458968" y="40233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4560"/>
                </a:solidFill>
              </a:rPr>
              <a:t>Onboarding flows, loyalty points, re-engagement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58968" y="4462272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8699"/>
                </a:solidFill>
              </a:rPr>
              <a:t>Target: Existing buyers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CORE MESSAGE: "Noise-cancelling quality. boAt prices. Made for your world." — Localise to Dutch: "Topgeluid. boAt prijzen."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08–10 · RISK · FINANCIALS · VERDICT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Verdict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06240" cy="2286000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54864" cy="32918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18872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Risks &amp; Mitigation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⚠ Brand unknown in NL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31720" y="1600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→ Influencer seeding + PR campaign at launch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039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⚠ EU compliance (CE, WEEE)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1720" y="20391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→ Pre-certify products before import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24780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⚠ JBL price retaliation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31720" y="247802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→ Compete on features, not pure price war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8912" y="29169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⚠ Logistics / returns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31720" y="291693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→ Partner with fulfillment hub in Germany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1115568"/>
            <a:ext cx="4023360" cy="2286000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15568"/>
            <a:ext cx="402336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188720"/>
            <a:ext cx="54864" cy="32918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4336" y="1188720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Year 1 Financial Targets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Revenue Target: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0" y="1600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€1.8M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26680" y="1600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8699"/>
                </a:solidFill>
              </a:rPr>
              <a:t>~30,000 units @ avg €60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92040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Marketing Budget: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6656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€280K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2668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8699"/>
                </a:solidFill>
              </a:rPr>
              <a:t>~15% of target revenue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92040" y="23865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Gross Margin: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66560" y="23865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42%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26680" y="23865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8699"/>
                </a:solidFill>
              </a:rPr>
              <a:t>After COGS + logistics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92040" y="27797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Break-even (units):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66560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12,500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26680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8699"/>
                </a:solidFill>
              </a:rPr>
              <a:t>Estimated Month 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92040" y="3172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NPS Target: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66560" y="31729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232A"/>
                </a:solidFill>
              </a:rPr>
              <a:t>&gt; 55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26680" y="31729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8699"/>
                </a:solidFill>
              </a:rPr>
              <a:t>Customer satisfaction KPI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0040" y="3547872"/>
            <a:ext cx="8458200" cy="1325880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3621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FFCCCC"/>
                </a:solidFill>
              </a:rPr>
              <a:t>OUR RECOMMENDATION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38770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 the Netherlands via an E-Commerce First strategy in 2025.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EEEE"/>
                </a:solidFill>
              </a:rPr>
              <a:t>boAt has a proven product portfolio, a compelling value proposition, and a category gap to exploit in the €45–€80 audio segment. Launch on bol.com + Amazon.nl with targeted digital marketing to Dutch Millennials &amp; Gen Z. Achieve €1.8M revenue by Month 12, then expand to physical retail in Year 2.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8699"/>
                </a:solidFill>
              </a:rPr>
              <a:t>boAt × Netherlands Market Entry  |  Mini Consulting Assignment  |  Prepared for Academic Portfolio  |  © 2025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MARKET CONTEXT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the Netherlands?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8CDD6"/>
                </a:solidFill>
              </a:rPr>
              <a:t>Strategic rationale for choosing the Dutch market as boAt's European beachhead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206240" cy="1572768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552" y="14813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Europe's Strongest E-Commerce Ecosystem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68% of Dutch electronics are purchased online. bol.com dominates, with Amazon.nl rapidly growing. This perfectly aligns with boAt's D2C model — no retail shelf needed at launch.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1371600"/>
            <a:ext cx="4206240" cy="1572768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371600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4813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22392" y="14813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Zero Language Barrier to Entry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10328" y="1828800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95% English proficiency among Dutch consumers. Marketing content, product listings, and customer support can launch in English immediately, reducing localisation cost.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206240" cy="1572768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18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87552" y="321868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World-Class Logistics Hub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3566160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Rotterdam is Europe's busiest port. Amsterdam Schiphol provides air freight access. A single Netherlands distribution hub can serve the entire EU in 24–48 hours.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0600" y="3108960"/>
            <a:ext cx="4206240" cy="1572768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108960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218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22392" y="321868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Highly Digital, Streaming-First Population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10328" y="3566160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CDD6"/>
                </a:solidFill>
              </a:rPr>
              <a:t>Dutch consumers lead Europe in Spotify usage, remote work adoption, and gaming engagement — all core boAt use cases. Audience-product fit is exceptionally high.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736592"/>
            <a:ext cx="8412480" cy="237744"/>
          </a:xfrm>
          <a:prstGeom prst="rect">
            <a:avLst/>
          </a:prstGeom>
          <a:solidFill>
            <a:srgbClr val="112347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🌍 Gateway to 450M European Consumers — Netherlands serves as a strategic beachhead. Success here unlocks Belgium, Germany, and Nordics via the same logistics infrastructure and EU regulatory approval.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12 · COMPETITIVE POSITIONING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Positioning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8699"/>
                </a:solidFill>
              </a:rPr>
              <a:t>Where boAt sits in the Dutch audio landscape — and how to exploit the gap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30352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17520" y="1463040"/>
            <a:ext cx="0" cy="3200400"/>
          </a:xfrm>
          <a:prstGeom prst="line">
            <a:avLst/>
          </a:prstGeom>
          <a:noFill/>
          <a:ln w="12700">
            <a:solidFill>
              <a:srgbClr val="D0D5E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57200" y="3063240"/>
            <a:ext cx="5120640" cy="0"/>
          </a:xfrm>
          <a:prstGeom prst="line">
            <a:avLst/>
          </a:prstGeom>
          <a:noFill/>
          <a:ln w="12700">
            <a:solidFill>
              <a:srgbClr val="D0D5E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11480" y="46451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699"/>
                </a:solidFill>
              </a:rPr>
              <a:t>← Budget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0" y="4645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9"/>
                </a:solidFill>
              </a:rPr>
              <a:t>Premium →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417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699"/>
                </a:solidFill>
              </a:rPr>
              <a:t>Professional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4572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699"/>
                </a:solidFill>
              </a:rPr>
              <a:t>Lifestyle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04672" y="2339035"/>
            <a:ext cx="950976" cy="808330"/>
          </a:xfrm>
          <a:prstGeom prst="ellipse">
            <a:avLst/>
          </a:prstGeom>
          <a:solidFill>
            <a:srgbClr val="F59E0B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339035"/>
            <a:ext cx="950976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JBL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1364285"/>
            <a:ext cx="877824" cy="746150"/>
          </a:xfrm>
          <a:prstGeom prst="ellipse">
            <a:avLst/>
          </a:prstGeom>
          <a:solidFill>
            <a:srgbClr val="0D9488">
              <a:alpha val="7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364285"/>
            <a:ext cx="877824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Jabra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005072" y="2279599"/>
            <a:ext cx="768096" cy="652882"/>
          </a:xfrm>
          <a:prstGeom prst="ellipse">
            <a:avLst/>
          </a:prstGeom>
          <a:solidFill>
            <a:srgbClr val="6B7280">
              <a:alpha val="70000"/>
            </a:srgbClr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5072" y="2279599"/>
            <a:ext cx="768096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Sony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98848" y="1716329"/>
            <a:ext cx="694944" cy="590702"/>
          </a:xfrm>
          <a:prstGeom prst="ellipse">
            <a:avLst/>
          </a:prstGeom>
          <a:solidFill>
            <a:srgbClr val="555555">
              <a:alpha val="70000"/>
            </a:srgbClr>
          </a:solidFill>
          <a:ln w="1905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1716329"/>
            <a:ext cx="69494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Apple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88720" y="3092958"/>
            <a:ext cx="1005840" cy="854964"/>
          </a:xfrm>
          <a:prstGeom prst="ellipse">
            <a:avLst/>
          </a:prstGeom>
          <a:solidFill>
            <a:srgbClr val="E8232A"/>
          </a:solidFill>
          <a:ln w="19050">
            <a:solidFill>
              <a:srgbClr val="E823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3092958"/>
            <a:ext cx="10058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🎯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14173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Price vs. Lifestyle Positioning Map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1371600"/>
            <a:ext cx="28346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37160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JBL — Mass Market Anchor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17373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4560"/>
                </a:solidFill>
              </a:rPr>
              <a:t>Dominates mainstream consumer audio through strong retail presence and brand familiarity. High awareness, but lacks the lifestyle premium that Gen Z craves.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04288"/>
            <a:ext cx="28346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0" y="2304288"/>
            <a:ext cx="2834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Jabra — Enterprise Specialist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26700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4560"/>
                </a:solidFill>
              </a:rPr>
              <a:t>Focuses heavily on professional audio and enterprise communication. Premium price point (€90–€300) creates a clear gap in the affordable daily-use segment.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43600" y="3236976"/>
            <a:ext cx="28346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0" y="3236976"/>
            <a:ext cx="28346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328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boAt — The Disruptor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80760" y="36027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4560"/>
                </a:solidFill>
              </a:rPr>
              <a:t>Can position as a premium-feel yet affordable lifestyle technology brand. The €45–€80 audio segment remains relatively underpenetrated in the Dutch market.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43600" y="4169664"/>
            <a:ext cx="28346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43600" y="4169664"/>
            <a:ext cx="2834640" cy="54864"/>
          </a:xfrm>
          <a:prstGeom prst="rect">
            <a:avLst/>
          </a:prstGeom>
          <a:solidFill>
            <a:srgbClr val="F5621E"/>
          </a:solidFill>
          <a:ln w="12700">
            <a:solidFill>
              <a:srgbClr val="F562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4261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The Opportunity Gap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80760" y="453542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4560"/>
                </a:solidFill>
              </a:rPr>
              <a:t>Between JBL's cheap tier and Jabra's entry point sits a €45–€80 sweet spot. boAt owns this space in India — the strategy is to replicate it in the Netherlands.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13 · FINANCIAL ASSUMPTIONS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Assumptions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8CDD6"/>
                </a:solidFill>
              </a:rPr>
              <a:t>Key variables underpinning the Year 1 revenue and break-even model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206240" cy="1097280"/>
          </a:xfrm>
          <a:prstGeom prst="rect">
            <a:avLst/>
          </a:prstGeom>
          <a:solidFill>
            <a:srgbClr val="112347"/>
          </a:solidFill>
          <a:ln w="12700">
            <a:solidFill>
              <a:srgbClr val="E82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481328"/>
            <a:ext cx="256032" cy="256032"/>
          </a:xfrm>
          <a:prstGeom prst="ellipse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" y="1463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Average Selling Price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97480" y="1444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232A"/>
                </a:solidFill>
              </a:rPr>
              <a:t>€60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17190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8CDD6"/>
                </a:solidFill>
              </a:rPr>
              <a:t>per device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5488" y="1883664"/>
            <a:ext cx="3950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Based on boAt's mid-tier product mix (Airdopes 500, Rockerz 450). Blended ASP accounts for promotional discounts at launch and bundle offers.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4206240" cy="1097280"/>
          </a:xfrm>
          <a:prstGeom prst="rect">
            <a:avLst/>
          </a:prstGeom>
          <a:solidFill>
            <a:srgbClr val="112347"/>
          </a:solidFill>
          <a:ln w="12700">
            <a:solidFill>
              <a:srgbClr val="F562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78608"/>
            <a:ext cx="4206240" cy="54864"/>
          </a:xfrm>
          <a:prstGeom prst="rect">
            <a:avLst/>
          </a:prstGeom>
          <a:solidFill>
            <a:srgbClr val="F5621E"/>
          </a:solidFill>
          <a:ln w="12700">
            <a:solidFill>
              <a:srgbClr val="F562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688336"/>
            <a:ext cx="256032" cy="256032"/>
          </a:xfrm>
          <a:prstGeom prst="ellipse">
            <a:avLst/>
          </a:prstGeom>
          <a:solidFill>
            <a:srgbClr val="F5621E"/>
          </a:solidFill>
          <a:ln w="12700">
            <a:solidFill>
              <a:srgbClr val="F562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4672" y="2670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Projected Sales Volume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9748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621E"/>
                </a:solidFill>
              </a:rPr>
              <a:t>30,000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97480" y="29260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8CDD6"/>
                </a:solidFill>
              </a:rPr>
              <a:t>units / Year 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5488" y="3090672"/>
            <a:ext cx="3950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Conservative estimate based on 0.8% penetration of 3.8M addressable consumers. Assumes bol.com listings go live in Month 1 with €280K marketing spend.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3785616"/>
            <a:ext cx="4206240" cy="1097280"/>
          </a:xfrm>
          <a:prstGeom prst="rect">
            <a:avLst/>
          </a:prstGeom>
          <a:solidFill>
            <a:srgbClr val="11234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85616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389534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" y="3877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Digital-First Cost Savings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97480" y="3858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~€120K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697480" y="41330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8CDD6"/>
                </a:solidFill>
              </a:rPr>
              <a:t>vs. traditional retail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5488" y="4297680"/>
            <a:ext cx="3950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D2C e-commerce eliminates retail margin (typically 35–40%), shelf fees, and physical merchandising costs. Savings reinvested into digital advertising.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00600" y="1371600"/>
            <a:ext cx="4206240" cy="1097280"/>
          </a:xfrm>
          <a:prstGeom prst="rect">
            <a:avLst/>
          </a:prstGeom>
          <a:solidFill>
            <a:srgbClr val="1123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137160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0328" y="148132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39512" y="1463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 Acquisition Cost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32320" y="1444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€8–€10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32320" y="17190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8CDD6"/>
                </a:solidFill>
              </a:rPr>
              <a:t>per customer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910328" y="1883664"/>
            <a:ext cx="3950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Estimated CAC during launch period based on Meta + TikTok CPM benchmarks in the Netherlands and projected 2.5% conversion rate from paid traffic.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5760" y="4736592"/>
            <a:ext cx="8412480" cy="237744"/>
          </a:xfrm>
          <a:prstGeom prst="rect">
            <a:avLst/>
          </a:prstGeom>
          <a:solidFill>
            <a:srgbClr val="11234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CDD6"/>
                </a:solidFill>
              </a:rPr>
              <a:t>📅 Break-Even Timeline: Month 9 — Break-even at ~12,500 units based on gross margin of 42%, fixed monthly costs of €35K (ops + marketing), and projected unit ramp from Month 3 onwards.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14 · KPI FRAMEWORK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Operational KPI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8699"/>
                </a:solidFill>
              </a:rPr>
              <a:t>Metrics to track boAt's Netherlands performance from 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1280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Customer Acquisition Cost (CAC)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118872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Target: €8–€10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96112" y="1572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8699"/>
                </a:solidFill>
              </a:rPr>
              <a:t>Tracked: Monthly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38912" y="1737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4560"/>
                </a:solidFill>
              </a:rPr>
              <a:t>Validates efficiency of digital ad spend. Rising CAC = audience saturation or poor creative.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48840"/>
            <a:ext cx="4206240" cy="54864"/>
          </a:xfrm>
          <a:prstGeom prst="rect">
            <a:avLst/>
          </a:prstGeom>
          <a:solidFill>
            <a:srgbClr val="F5621E"/>
          </a:solidFill>
          <a:ln w="12700">
            <a:solidFill>
              <a:srgbClr val="F562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Net Promoter Score (NPS)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2240280"/>
            <a:ext cx="1188720" cy="256032"/>
          </a:xfrm>
          <a:prstGeom prst="rect">
            <a:avLst/>
          </a:prstGeom>
          <a:solidFill>
            <a:srgbClr val="F5621E"/>
          </a:solidFill>
          <a:ln w="12700">
            <a:solidFill>
              <a:srgbClr val="F56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240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Target: &gt; 55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6112" y="2532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8699"/>
                </a:solidFill>
              </a:rPr>
              <a:t>Tracked: Quarterly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38912" y="2697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4560"/>
                </a:solidFill>
              </a:rPr>
              <a:t>Measures customer satisfaction and likelihood to recommend. Critical for word-of-mouth growth in the Netherlands.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108960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108960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112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Conversion Rate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3200400"/>
            <a:ext cx="1188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Target: &gt; 2.5%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96112" y="3493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8699"/>
                </a:solidFill>
              </a:rPr>
              <a:t>Tracked: Weekly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38912" y="3657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4560"/>
                </a:solidFill>
              </a:rPr>
              <a:t>% of ad-driven traffic that completes a purchase. Benchmark for landing page and product listing effectiveness.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4069080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06908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🛍️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6112" y="4160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Average Order Value (AOV)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4160520"/>
            <a:ext cx="11887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4160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Target: €65+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6112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8699"/>
                </a:solidFill>
              </a:rPr>
              <a:t>Tracked: Monthly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8912" y="4617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4560"/>
                </a:solidFill>
              </a:rPr>
              <a:t>Track whether bundle promotions and upsell nudges are moving customers up the price tier.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00600" y="1188720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1188720"/>
            <a:ext cx="42062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↩️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30952" y="1280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Return &amp; Refund Rate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680960" y="1280160"/>
            <a:ext cx="118872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Target: &lt; 8%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30952" y="1572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8699"/>
                </a:solidFill>
              </a:rPr>
              <a:t>Tracked: Monthly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73752" y="1737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4560"/>
                </a:solidFill>
              </a:rPr>
              <a:t>High returns signal product-expectation mismatch. Target below industry benchmark of 12% for electronics.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00600" y="2148840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00600" y="2148840"/>
            <a:ext cx="4206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3752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330952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Repeat Purchase Rate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80960" y="2240280"/>
            <a:ext cx="11887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2240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Target: &gt; 25%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30952" y="2532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8699"/>
                </a:solidFill>
              </a:rPr>
              <a:t>Tracked: Quarterly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873752" y="2697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4560"/>
                </a:solidFill>
              </a:rPr>
              <a:t>Measures brand loyalty. boAt's India success is built on repeat purchases — replicate this via the loyalty app.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00600" y="3108960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00600" y="3108960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7375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5330952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Return on Ad Spend (ROAS)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80960" y="3200400"/>
            <a:ext cx="118872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80960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Target: &gt; 3.5x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30952" y="3493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8699"/>
                </a:solidFill>
              </a:rPr>
              <a:t>Tracked: Weekly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873752" y="3657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4560"/>
                </a:solidFill>
              </a:rPr>
              <a:t>Revenue generated per €1 spent on ads. Minimum 3.5x to maintain profitability at target CAC levels.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00600" y="40690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2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800600" y="4069080"/>
            <a:ext cx="420624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73752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5330952" y="4160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D3A"/>
                </a:solidFill>
              </a:rPr>
              <a:t>Return on Ad Spend (ROAS)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680960" y="4160520"/>
            <a:ext cx="118872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80960" y="4160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Target: &gt; 3.5x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330952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8699"/>
                </a:solidFill>
              </a:rPr>
              <a:t>Tracked: Weekly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873752" y="4617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4560"/>
                </a:solidFill>
              </a:rPr>
              <a:t>Revenue generated per €1 spent on ads. Minimum 3.5x to maintain profitability at target CAC levels.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15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 &amp; Research Sources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8CDD6"/>
                </a:solidFill>
              </a:rPr>
              <a:t>Data, reports, and publications informing this market entry analysis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0" y="1097280"/>
            <a:ext cx="2560320" cy="2560320"/>
          </a:xfrm>
          <a:prstGeom prst="ellipse">
            <a:avLst/>
          </a:prstGeom>
          <a:solidFill>
            <a:srgbClr val="1A3060">
              <a:alpha val="50000"/>
            </a:srgbClr>
          </a:solidFill>
          <a:ln w="12700">
            <a:solidFill>
              <a:srgbClr val="1A306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3200400"/>
            <a:ext cx="1463040" cy="1463040"/>
          </a:xfrm>
          <a:prstGeom prst="ellipse">
            <a:avLst/>
          </a:prstGeom>
          <a:solidFill>
            <a:srgbClr val="E8232A">
              <a:alpha val="28000"/>
            </a:srgbClr>
          </a:solidFill>
          <a:ln w="12700">
            <a:solidFill>
              <a:srgbClr val="E8232A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4160520" cy="822960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71600"/>
            <a:ext cx="416052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499616"/>
            <a:ext cx="292608" cy="23774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49961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4672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232A"/>
                </a:solidFill>
              </a:rPr>
              <a:t>Statista —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4672" y="16642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Netherlands Consumer Electronics Market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1883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Market sizing, revenue forecasts, and category breakdowns for Dutch electronics 2022–2028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304288"/>
            <a:ext cx="4160520" cy="822960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04288"/>
            <a:ext cx="416052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432304"/>
            <a:ext cx="292608" cy="23774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43230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" y="2395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232A"/>
                </a:solidFill>
              </a:rPr>
              <a:t>Counterpoint Research —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4672" y="25968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Audio &amp; Wearables Market Report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" y="28163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Global and European audio device shipments, brand share data, and TWS growth forecasts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3236976"/>
            <a:ext cx="4160520" cy="822960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36976"/>
            <a:ext cx="416052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3364992"/>
            <a:ext cx="292608" cy="23774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36499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" y="33284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232A"/>
                </a:solidFill>
              </a:rPr>
              <a:t>Deloitte —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" y="35295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Digital Consumer Trends Survey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" y="3749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Consumer behaviour insights on online purchasing, streaming habits, and device preferences in Europe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4169664"/>
            <a:ext cx="4160520" cy="822960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169664"/>
            <a:ext cx="416052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4297680"/>
            <a:ext cx="292608" cy="23774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2976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" y="42611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232A"/>
                </a:solidFill>
              </a:rPr>
              <a:t>CBS Netherlands —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04672" y="44622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Statistics Netherlands (CBS)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" y="4681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Dutch population demographics, household income distribution, and internet penetration data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09160" y="1371600"/>
            <a:ext cx="4160520" cy="822960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1371600"/>
            <a:ext cx="416052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82312" y="1499616"/>
            <a:ext cx="292608" cy="23774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2312" y="149961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48072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232A"/>
                </a:solidFill>
              </a:rPr>
              <a:t>Euromonitor —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148072" y="16642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Consumer Electronics Reports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48072" y="1883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Competitive landscape, retail channel analysis, and brand positioning maps for Netherlands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709160" y="2304288"/>
            <a:ext cx="4160520" cy="822960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2304288"/>
            <a:ext cx="416052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82312" y="2432304"/>
            <a:ext cx="292608" cy="23774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2312" y="243230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48072" y="2395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232A"/>
                </a:solidFill>
              </a:rPr>
              <a:t>boAt Lifestyle —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148072" y="25968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Market Reports &amp; Business Articles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48072" y="28163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Company revenue disclosures, India market share data, and international expansion roadmap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709160" y="3236976"/>
            <a:ext cx="4160520" cy="822960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3236976"/>
            <a:ext cx="4160520" cy="5486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82312" y="3364992"/>
            <a:ext cx="292608" cy="237744"/>
          </a:xfrm>
          <a:prstGeom prst="rect">
            <a:avLst/>
          </a:prstGeom>
          <a:solidFill>
            <a:srgbClr val="E8232A"/>
          </a:solidFill>
          <a:ln w="12700">
            <a:solidFill>
              <a:srgbClr val="E823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82312" y="336499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48072" y="33284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232A"/>
                </a:solidFill>
              </a:rPr>
              <a:t>McKinsey &amp; Company —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148072" y="35295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Europe Consumer Trends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48072" y="3749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8CDD6"/>
                </a:solidFill>
              </a:rPr>
              <a:t>Post-COVID consumer behaviour shifts, e-commerce adoption, and premiumisation trends across Europe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solidFill>
            <a:srgbClr val="112347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8699"/>
                </a:solidFill>
              </a:rPr>
              <a:t>All market data is indicative and for academic/portfolio purposes. Actual figures may vary. Research conducted 2024–2025.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boAt — Netherlands Market Entry Strategy</dc:title>
  <dc:subject>PptxGenJS Presentation</dc:subject>
  <dc:creator>PptxGenJS</dc:creator>
  <cp:lastModifiedBy>PptxGenJS</cp:lastModifiedBy>
  <cp:revision>1</cp:revision>
  <dcterms:created xsi:type="dcterms:W3CDTF">2026-05-20T14:20:38Z</dcterms:created>
  <dcterms:modified xsi:type="dcterms:W3CDTF">2026-05-20T14:20:38Z</dcterms:modified>
</cp:coreProperties>
</file>